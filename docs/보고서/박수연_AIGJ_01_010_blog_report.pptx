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6eab9ca-d7d6-4b02-3276-eddda8d6786a}">
          <p14:sldIdLst>
            <p14:sldId id="256"/>
          </p14:sldIdLst>
        </p14:section>
        <p14:section name="목차" id="{362e5d08-24d4-2ae3-44d0-767da0f2de8e}">
          <p14:sldIdLst>
            <p14:sldId id="257"/>
          </p14:sldIdLst>
        </p14:section>
        <p14:section name="01 프로젝트 개요" id="{63d3d3bd-b623-f5f8-17ce-4805fb97e51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02 프로젝트 구현 범위" id="{e9860a82-3b37-7355-7b8f-9f8ce6da7219}">
          <p14:sldIdLst>
            <p14:sldId id="264"/>
          </p14:sldIdLst>
        </p14:section>
        <p14:section name="03 수행 절차 및 방법" id="{a438c48c-e32e-b96e-c5ba-e3c214599ef2}">
          <p14:sldIdLst>
            <p14:sldId id="265"/>
          </p14:sldIdLst>
        </p14:section>
        <p14:section name="04 수행 경과" id="{86542e14-7381-63fc-24df-26c403b50baf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05 자체 평가 의견" id="{004bd8db-d4a3-fa6a-27cb-0c0e3de0d5c0}">
          <p14:sldIdLst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31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11318"/>
                </a:solidFill>
                <a:latin typeface="+mn-lt"/>
              </a:rPr>
              <a:t>초당 처리 건수 (캐시 전 / 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캐시 전</c:v>
                </c:pt>
              </c:strCache>
            </c:strRef>
          </c:tx>
          <c:spPr>
            <a:solidFill>
              <a:srgbClr val="9AA0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B3F4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메인</c:v>
                  </c:pt>
                  <c:pt idx="1">
                    <c:v>인기순 목록</c:v>
                  </c:pt>
                  <c:pt idx="2">
                    <c:v>주제 화면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18.6</c:v>
                </c:pt>
                <c:pt idx="1">
                  <c:v>33.8</c:v>
                </c:pt>
                <c:pt idx="2">
                  <c:v>476.8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캐시 후</c:v>
                </c:pt>
              </c:strCache>
            </c:strRef>
          </c:tx>
          <c:spPr>
            <a:solidFill>
              <a:srgbClr val="C432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B3F4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메인</c:v>
                  </c:pt>
                  <c:pt idx="1">
                    <c:v>인기순 목록</c:v>
                  </c:pt>
                  <c:pt idx="2">
                    <c:v>주제 화면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2868</c:v>
                </c:pt>
                <c:pt idx="1">
                  <c:v>4937</c:v>
                </c:pt>
                <c:pt idx="2">
                  <c:v>4874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B3F4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3F4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B3F4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</a:rPr>
              <a:t>사각 · 박수연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C43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NHN 아카데미 · AI 프로젝트 · 개인 프로젝트 소개자료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사각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회원마다 블로그 하나, 그 안에 다이어리 여러 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꾸미며 쓰는 다이어리형 블로그 서비스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434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박수연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AIGJ_01_010</a:t>
            </a:r>
            <a:endParaRPr lang="en-US" sz="13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사이트  https://sagak.java21.net</a:t>
            </a:r>
            <a:endParaRPr lang="en-US" sz="13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 github.com/home-my-blog/myblog</a:t>
            </a:r>
            <a:endParaRPr lang="en-US" sz="13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저장소  github.com/AIP-1/blog-basic-AIGJ_01_10_pblog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92240" y="1463040"/>
            <a:ext cx="5266944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/private/tmp/claude-501/-Users-parksuyeon-Documents-blog-project/b171277a-1760-43e0-9b52-11e8cd717d78/scratchpad/report/shots/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1536192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사각 개인 프로젝트 소개자료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868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8869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주제와 기획의도 · 개발환경 · 구조(구성도 · 패키지 · ERD) · 기대 효과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47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9659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구현 범위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40487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구현 내용과 완성 여부(완료 · 일부 완료)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0266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30449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348386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→ 설계 → 개발 → 테스트 · 배포, 9일간의 일정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4105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412394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45628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 화면 · 기술적 고민 6가지 · 트러블슈팅 6건 · AI 활용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51846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520293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564184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완성도 · 잘한 점과 아쉬운 점 · 개선할 점 · 느낀 점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주제 · 선정 배경 · 기획의도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“블로그를 다이어리 꾸미기처럼”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회원마다 블로그가 하나 생기고, 블로그 안에 다이어리(분류)를 여러 권 만들어 글을 쓴다. 활동하면 잉크가 쌓이고, 잉크로 스티커를 사서 다이어리 표지를 꾸민다.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배경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프로젝트로, 블로그 서비스에 꼭 필요한 기본 기능을 공통 요구사항(CF-01~24)으로 먼저 정리했다.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기능만으로는 흔한 블로그가 된다. 글 목록 중심의 일반 블로그 대신, 꾸준히 쓰고 싶게 만드는 장치에 집중했다.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기획부터 배포 · 운영까지 해 보며, 수업에서 배운 세션 인증 · 리버스 프록시 · CI/CD · 테스트 전략을 실제 서비스에 적용하는 것이 목표였다.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743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블로그와 다른 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3200400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다이어리 단위 운영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50215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다이어리마다 공개 · 구독자만 · 비공개를 정하고, 블로그 전체 또는 다이어리 한 권만 구독할 수 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4224528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41788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동기를 주는 꾸미기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45262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출석 · 글 · 댓글로 잉크를 모아 스티커 팩을 사고, 다이어리 표지에 붙인다. 도전과제도 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5248656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52029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재미와 안전한 소통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555040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5초마다 바뀌는 실시간 인기 검색어, 쓴 사람과 블로그 주인만 보는 비밀 댓글.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구현 내용과 컨셉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컨셉: 내 다이어리를 꾸미며 쓰는 블로그 — 사이트는 붉은 포인트 색 하나로 통일하고, 야간모드도 지원한다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40280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258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글쓰기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88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마크다운 에디터 · 미리보기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10장 · 태그 5개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60초 자동 임시저장 · 대표글 고정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240280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2258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읽기와 소통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88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댓글 · 답글 · 비밀 댓글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좋아요 · 책갈피 폴더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 / 다이어리 구독 피드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240280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796528" y="2258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788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분야별 글(최신 · 인기순)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검색(한국어 부분 일치)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인기 검색어 · 인기 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178808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41970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꾸미기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7274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잉크 적립(출석 · 글 · 댓글)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스티커 상점 · 표지 꾸미기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도전과제 · 야간모드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97680" y="3950208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178808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628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047488" y="41970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7274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인증 가입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· 구글 로그인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 찾기 · 30일 안에 복구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46720" y="3950208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4178808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796528" y="41970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 관리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7274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· 7일 / 30일 통계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 · 댓글 모아 보기</a:t>
            </a:r>
            <a:endParaRPr lang="en-US" sz="1250" dirty="0"/>
          </a:p>
          <a:p>
            <a:pPr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다이어리 순서 · 공개 범위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훈련 내용과의 연관성: Spring Boot · React 개발, 세션과 쿠키 인증, Docker · nginx 리버스 프록시, GitHub Actions CI/CD, 테스트 피라미드와 정적 분석을 모두 사각에 적용했다.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활용 장비 및 재료 — 개발환경과 버전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120640"/>
                <a:gridCol w="4663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기술 (버전)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고른 이유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Java 21 · TypeScript 5.9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지원 중인 LTS, 타입으로 API 응답 모양 실수를 컴파일 단계에서 차단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Spring Boot 3.5.14 (Security · Session · OAuth2 Client) · JdbcClient · Flyway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 · 세션 도구가 갖춰져 있음. SQL을 코드에 그대로 보이게 JPA 대신 JdbcClient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React 19.2 · React Router 7 · TanStack Query 5 · Vite 7 · react-markdown 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컴포넌트 단위 화면, 서버 데이터 캐시를 라이브러리에 맡김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PostgreSQL 16 (pg_trgm) · Redis 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강하게 연결된 데이터는 관계형 DB, 곧 사라질 값 · 세션 · 캐시는 Redis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빌드 · 테스트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Gradle 8.14 · Node 22 · JUnit 5 · Vitest 5 · Testing Library · Playwright 1.56 · JaCoCo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단위 · 통합 · 종단(E2E) 테스트와 커버리지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SonarQube Cloud · ESLint 9 · tsc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 게이트를 통과해야만 병합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Docker (eclipse-temurin 21) · nginx 1.27 · GitHub Actions · 서버 nginx(HTTPS)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이미지로 로컬과 서버를 맞추고, 블루-그린 무중단 배포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 도구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Code · Spec Kit · Git / GitHub · Notion · Crowfoot(ERD)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페어 프로그래밍, 명세 → 계획 → 작업 순서로 개발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프로젝트 구조 — 시스템 구성도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743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11680" y="3200400"/>
            <a:ext cx="6400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508760" y="2907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 443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1760" y="26060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2606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nginx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· 인증서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SSL 종료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80560" y="3200400"/>
            <a:ext cx="6858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83480" y="1600200"/>
            <a:ext cx="66294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C4323A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516636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학원 서버 (Docker)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66360" y="260604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57800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myblog-proxy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127.0.0.1:8390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nginx 1.27 · 전환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flipV="1">
            <a:off x="6858000" y="2514600"/>
            <a:ext cx="640080" cy="4572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429000"/>
            <a:ext cx="640080" cy="45720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0" y="210312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2103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사각 서버 · blue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+ React 빌드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98080" y="352044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3520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사각 서버 · green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때 새 버전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784080" y="210312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0" y="21031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Redis 7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· 인증번호 · 캐시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784080" y="352044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0" y="3520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디스크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파일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509760" y="2542032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09760" y="3959352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98080" y="470916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0" y="47091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16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· 블로그 · 글 · 댓글 · 사진 정보 (표 28개)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503920" y="4389120"/>
            <a:ext cx="914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48640" y="457200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572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</a:t>
            </a:r>
            <a:endParaRPr lang="en-US" sz="13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main 병합 → 테스트 → 도커 이미지 → SSH 배포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 flipV="1">
            <a:off x="4480560" y="3794760"/>
            <a:ext cx="685800" cy="118872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포트(8390)는 서버 안에서만 열고, 바깥은 HTTPS 도메인으로만 들어온다. 화면과 API를 같은 주소로 내보내 쿠키 세션을 그대로 쓰고 CORS 설정이 필요 없다.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프로젝트 구조 — 패키지 구조와 ERD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206240" cy="4617720"/>
          </a:xfrm>
          <a:prstGeom prst="roundRect">
            <a:avLst>
              <a:gd name="adj" fmla="val 2609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3931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backend/ (com.myblog)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 member   가입 · 로그인 · 소셜 · 탈퇴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 blog     블로그 · 다이어리 · 구독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 post     글 · 임시저장 · 태그 · 좋아요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 comment  댓글 · 비밀 댓글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 search   검색 · 인기 검색어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 shop     잉크 · 스티커 · 도전과제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 image    사진 (디스크 / S3)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 manage   블로그 관리 · 통계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 home · stats · mail · config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 common   오류 응답 · RedisGuard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db/migration  Flyway V1 ~ V25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frontend/src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 pages · components · api · auth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 messages.ts  화면 문구 모음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74920" y="1600200"/>
            <a:ext cx="2011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1600200"/>
            <a:ext cx="2011680" cy="292608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48072" y="1600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members 회원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929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PK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 UK · nickname UK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password_set · deleted_at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60920" y="1600200"/>
            <a:ext cx="2011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600200"/>
            <a:ext cx="2011680" cy="292608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34072" y="1600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blogs 블로그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1929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PK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owner_id FK (1:1)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 · topic_id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46920" y="1600200"/>
            <a:ext cx="2011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46920" y="1600200"/>
            <a:ext cx="2011680" cy="292608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0072" y="1600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categories 다이어리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738360" y="1929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PK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blog_id FK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 · visibility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646920" y="3154680"/>
            <a:ext cx="201168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3154680"/>
            <a:ext cx="2011680" cy="292608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20072" y="3154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posts 글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738360" y="3483864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PK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blog_id · category_id FK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 · body · visibility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view_count · pinned_at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60920" y="3154680"/>
            <a:ext cx="2011680" cy="1133856"/>
          </a:xfrm>
          <a:prstGeom prst="rect">
            <a:avLst/>
          </a:prstGeom>
          <a:solidFill>
            <a:srgbClr val="FFFFFF"/>
          </a:solidFill>
          <a:ln w="19050">
            <a:solidFill>
              <a:srgbClr val="C43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3154680"/>
            <a:ext cx="2011680" cy="292608"/>
          </a:xfrm>
          <a:prstGeom prst="rect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34072" y="3154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comments 댓글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83864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PK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post_id · author_id FK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parent_id FK (답글)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body · secret (V25)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74920" y="3154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74920" y="3154680"/>
            <a:ext cx="2011680" cy="292608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48072" y="3154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subscriptions 구독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348386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member_id · blog_id PK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(다이어리 구독 따로)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60920" y="484632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60920" y="4846320"/>
            <a:ext cx="2011680" cy="292608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34072" y="4846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post_likes 좋아요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51755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post_id · member_id PK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484632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74920" y="4846320"/>
            <a:ext cx="2011680" cy="292608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48072" y="4846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ink_wallets 잉크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166360" y="517550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member_id PK · balance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ink_ledger_entries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646920" y="484632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46920" y="4846320"/>
            <a:ext cx="2011680" cy="292608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20072" y="4846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post_images 사진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738360" y="517550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PK · post_id FK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storage_key (UUID)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86600" y="1783080"/>
            <a:ext cx="274320" cy="914"/>
          </a:xfrm>
          <a:prstGeom prst="line">
            <a:avLst/>
          </a:prstGeom>
          <a:noFill/>
          <a:ln w="15875">
            <a:solidFill>
              <a:srgbClr val="9AA0AA"/>
            </a:solidFill>
            <a:prstDash val="solid"/>
            <a:tailEnd type="oval"/>
          </a:ln>
        </p:spPr>
      </p:sp>
      <p:sp>
        <p:nvSpPr>
          <p:cNvPr id="44" name="Shape 42"/>
          <p:cNvSpPr/>
          <p:nvPr/>
        </p:nvSpPr>
        <p:spPr>
          <a:xfrm>
            <a:off x="9372600" y="1783080"/>
            <a:ext cx="274320" cy="914"/>
          </a:xfrm>
          <a:prstGeom prst="line">
            <a:avLst/>
          </a:prstGeom>
          <a:noFill/>
          <a:ln w="15875">
            <a:solidFill>
              <a:srgbClr val="9AA0AA"/>
            </a:solidFill>
            <a:prstDash val="solid"/>
            <a:tailEnd type="oval"/>
          </a:ln>
        </p:spPr>
      </p:sp>
      <p:sp>
        <p:nvSpPr>
          <p:cNvPr id="45" name="Shape 43"/>
          <p:cNvSpPr/>
          <p:nvPr/>
        </p:nvSpPr>
        <p:spPr>
          <a:xfrm>
            <a:off x="9921240" y="2532888"/>
            <a:ext cx="914" cy="621792"/>
          </a:xfrm>
          <a:prstGeom prst="line">
            <a:avLst/>
          </a:prstGeom>
          <a:noFill/>
          <a:ln w="15875">
            <a:solidFill>
              <a:srgbClr val="9AA0AA"/>
            </a:solidFill>
            <a:prstDash val="solid"/>
            <a:tailEnd type="oval"/>
          </a:ln>
        </p:spPr>
      </p:sp>
      <p:sp>
        <p:nvSpPr>
          <p:cNvPr id="46" name="Shape 44"/>
          <p:cNvSpPr/>
          <p:nvPr/>
        </p:nvSpPr>
        <p:spPr>
          <a:xfrm>
            <a:off x="9372600" y="3337560"/>
            <a:ext cx="274320" cy="914"/>
          </a:xfrm>
          <a:prstGeom prst="line">
            <a:avLst/>
          </a:prstGeom>
          <a:noFill/>
          <a:ln w="15875">
            <a:solidFill>
              <a:srgbClr val="9AA0AA"/>
            </a:solidFill>
            <a:prstDash val="solid"/>
            <a:tailEnd type="oval"/>
          </a:ln>
        </p:spPr>
      </p:sp>
      <p:sp>
        <p:nvSpPr>
          <p:cNvPr id="47" name="Shape 45"/>
          <p:cNvSpPr/>
          <p:nvPr/>
        </p:nvSpPr>
        <p:spPr>
          <a:xfrm>
            <a:off x="5349240" y="2532888"/>
            <a:ext cx="914" cy="621792"/>
          </a:xfrm>
          <a:prstGeom prst="line">
            <a:avLst/>
          </a:prstGeom>
          <a:noFill/>
          <a:ln w="15875">
            <a:solidFill>
              <a:srgbClr val="9AA0AA"/>
            </a:solidFill>
            <a:prstDash val="solid"/>
            <a:tailEnd type="oval"/>
          </a:ln>
        </p:spPr>
      </p:sp>
      <p:sp>
        <p:nvSpPr>
          <p:cNvPr id="48" name="Shape 46"/>
          <p:cNvSpPr/>
          <p:nvPr/>
        </p:nvSpPr>
        <p:spPr>
          <a:xfrm>
            <a:off x="7635240" y="4288536"/>
            <a:ext cx="914" cy="557784"/>
          </a:xfrm>
          <a:prstGeom prst="line">
            <a:avLst/>
          </a:prstGeom>
          <a:noFill/>
          <a:ln w="15875">
            <a:solidFill>
              <a:srgbClr val="9AA0AA"/>
            </a:solidFill>
            <a:prstDash val="solid"/>
            <a:tailEnd type="oval"/>
          </a:ln>
        </p:spPr>
      </p:sp>
      <p:sp>
        <p:nvSpPr>
          <p:cNvPr id="49" name="Shape 47"/>
          <p:cNvSpPr/>
          <p:nvPr/>
        </p:nvSpPr>
        <p:spPr>
          <a:xfrm>
            <a:off x="9921240" y="4288536"/>
            <a:ext cx="914" cy="557784"/>
          </a:xfrm>
          <a:prstGeom prst="line">
            <a:avLst/>
          </a:prstGeom>
          <a:noFill/>
          <a:ln w="15875">
            <a:solidFill>
              <a:srgbClr val="9AA0AA"/>
            </a:solidFill>
            <a:prstDash val="solid"/>
            <a:tailEnd type="oval"/>
          </a:ln>
        </p:spPr>
      </p:sp>
      <p:sp>
        <p:nvSpPr>
          <p:cNvPr id="50" name="Shape 48"/>
          <p:cNvSpPr/>
          <p:nvPr/>
        </p:nvSpPr>
        <p:spPr>
          <a:xfrm>
            <a:off x="4892040" y="1828800"/>
            <a:ext cx="182880" cy="0"/>
          </a:xfrm>
          <a:prstGeom prst="line">
            <a:avLst/>
          </a:prstGeom>
          <a:noFill/>
          <a:ln w="15875">
            <a:solidFill>
              <a:srgbClr val="9AA0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1828800"/>
            <a:ext cx="0" cy="3200400"/>
          </a:xfrm>
          <a:prstGeom prst="line">
            <a:avLst/>
          </a:prstGeom>
          <a:noFill/>
          <a:ln w="15875">
            <a:solidFill>
              <a:srgbClr val="9AA0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2040" y="5029200"/>
            <a:ext cx="182880" cy="0"/>
          </a:xfrm>
          <a:prstGeom prst="line">
            <a:avLst/>
          </a:prstGeom>
          <a:noFill/>
          <a:ln w="15875">
            <a:solidFill>
              <a:srgbClr val="9AA0AA"/>
            </a:solidFill>
            <a:prstDash val="solid"/>
            <a:tailEnd type="oval"/>
          </a:ln>
        </p:spPr>
      </p:sp>
      <p:sp>
        <p:nvSpPr>
          <p:cNvPr id="53" name="Text 51"/>
          <p:cNvSpPr txBox="1"/>
          <p:nvPr/>
        </p:nvSpPr>
        <p:spPr>
          <a:xfrm>
            <a:off x="5074920" y="5989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표만 그린 그림. 전체는 표 28개 · 외래 키 45개 (Crowfoot ERD, docs/설계/ERD.md)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활용 방안과 기대 효과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47088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105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쓰는 개인 기록 서비스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도메인(sagak.java21.net)에서 HTTPS로 운영 중이다. 가입부터 글쓰기 · 구독 · 꾸미기까지 혼자서도, 여럿이서도 쓸 수 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35808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999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 할 수 있는 운영 사례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37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무중단 배포 스크립트, CI 품질 게이트, 테스트 전략, 기능 · 원리 문서를 공개 저장소에 남겨 다른 프로젝트의 출발점으로 쓸 수 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224528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879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가능한 구조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526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세션이 이미 Redis에 있어 앱을 두 대로 늘려도 코드 변경이 없다. 사진 저장소는 인터페이스로 분리해 설정만으로 S3 호환 저장소로 바꾼다.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154배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화면 처리량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121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초당 18.6건 → 2,868건 (Redis 응답 캐시)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0회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중 끊김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3310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0.2초 간격 요청 중 배포, 로그인 유지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89.7%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커버리지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4498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127 · 화면 297 · E2E 7개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수치는 로컬에서 글 20,769개를 넣고 Apache Bench(동시 10명)로 같은 조건에서 캐시 전후를 잰 값이다.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구현 범위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구현 내용과 완성 여부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요구사항 CF-01~24 + 사각만의 기능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0"/>
                <a:gridCol w="12801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구현 내용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이메일 인증 가입 · 로그인(5회 실패 10분 잠금) · 비밀번호 찾기 · 카카오 / 구글 로그인 · 탈퇴 후 30일 안에 복구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D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블로그 · 다이어리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블로그 설정 · 분야, 다이어리 추가 · 순서 · 공개 범위(공개 / 구독자만 / 비공개)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D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글쓰기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마크다운 · 미리보기, 사진 10장, 태그 5개, 60초 자동 임시저장, 대표글 3개 고정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D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읽기 · 소통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댓글 · 한 단계 답글 · 비밀 댓글, 좋아요, 블로그 / 다이어리 구독과 피드, 책갈피 폴더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D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탐색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분야별 글(최신 · 인기순), 통합 검색, 실시간 인기 검색어, 이번 주 인기 글 · 인기 다이어리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D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꾸미기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잉크 적립 · 스티커 상점 · 다이어리 표지 꾸미기 · 도전과제 · 야간모드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D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블로그 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대시보드 · 7일 / 30일 통계 그래프 · 글 / 댓글 모아 보기 · 새 댓글 표시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D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HTTPS 도메인, 자동 배포, 블루-그린 무중단 배포, 공개 화면 캐시, 품질 게이트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D6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사유 4가지로 신고 저장, 한 글에 한 번 (신고를 처리하는 화면은 없음)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779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일부 완료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토스트 · 잉크 적립 알림 · 새 댓글 수 배지 (서버가 먼저 보내는 푸시 알림은 없음)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779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일부 완료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9일 동안 릴리스 21번 — 기획 → 설계 → 개발 → 테스트 · 배포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2026.10.08 ~ 10.16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298448" cy="502920"/>
          </a:xfrm>
          <a:prstGeom prst="chevron">
            <a:avLst/>
          </a:prstGeom>
          <a:solidFill>
            <a:srgbClr val="FBEC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52244" y="1600200"/>
            <a:ext cx="1298448" cy="502920"/>
          </a:xfrm>
          <a:prstGeom prst="chevron">
            <a:avLst/>
          </a:prstGeom>
          <a:solidFill>
            <a:srgbClr val="FBEC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61972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600200"/>
            <a:ext cx="1298448" cy="502920"/>
          </a:xfrm>
          <a:prstGeom prst="chevron">
            <a:avLst/>
          </a:prstGeom>
          <a:solidFill>
            <a:srgbClr val="FBEC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9452" y="1600200"/>
            <a:ext cx="1298448" cy="502920"/>
          </a:xfrm>
          <a:prstGeom prst="chevron">
            <a:avLst/>
          </a:prstGeom>
          <a:solidFill>
            <a:srgbClr val="FBEC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9180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목록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600200"/>
            <a:ext cx="1298448" cy="502920"/>
          </a:xfrm>
          <a:prstGeom prst="chevron">
            <a:avLst/>
          </a:prstGeom>
          <a:solidFill>
            <a:srgbClr val="C432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2784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구현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6660" y="1600200"/>
            <a:ext cx="1298448" cy="502920"/>
          </a:xfrm>
          <a:prstGeom prst="chevron">
            <a:avLst/>
          </a:prstGeom>
          <a:solidFill>
            <a:srgbClr val="C432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76388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 검사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70264" y="1600200"/>
            <a:ext cx="1298448" cy="502920"/>
          </a:xfrm>
          <a:prstGeom prst="chevron">
            <a:avLst/>
          </a:prstGeom>
          <a:solidFill>
            <a:srgbClr val="C432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79992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무중단 배포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373868" y="1600200"/>
            <a:ext cx="1298448" cy="502920"/>
          </a:xfrm>
          <a:prstGeom prst="chevron">
            <a:avLst/>
          </a:prstGeom>
          <a:solidFill>
            <a:srgbClr val="C432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483596" y="16002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사이트 확인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194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Kit으로 명세를 먼저 쓰고(왼쪽 네 칸), 기능마다 같은 순서로 구현 · 검증 · 배포를 반복했다(오른쪽 네 칸).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6675120"/>
                <a:gridCol w="15544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10.01~02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사전 기획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기준 요구사항과 공통 기능(CF-01~24)을 정리하고, 사각의 주제 · 컨셉(다이어리 꾸미기)을 정함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· 첫 배포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공통 요구사항 → Spec Kit(spec · plan · tasks), 프로젝트 원칙 6가지, 서버 · 화면 구현, 첫 배포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v1.0.0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10.12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 확장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도메인 연결, 사각 디자인, 분야 · 블로그 소개, 구독 · 책갈피, 야간모드, 스티커 상점, 인기 검색어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v1.1 ~ v1.6.1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10.13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블루-그린 무중단 배포 + Redis 세션, 보안 수정, 카카오 · 구글 로그인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v1.7 ~ v1.8.1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10.14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성능 · 품질 · 보안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가입 방법별 로그인 정책, 공개 화면 캐시(154배), SonarQube 품질 게이트, 앱 포트 숨기기 + HSTS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v1.9 ~ v1.10.1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10.15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 정리 · 테스트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SonarQube 이슈 229개 정리, 화면 테스트 241개 추가(커버리지 34% → 94%)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v1.10.2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10.16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마무리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E2E 테스트 · TESTING.md, 비밀 댓글, README · 문서 · ERD 정리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v1.10.3 ~ v1.11.1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28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개발기간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28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10.08 ~ 10.16 (9일)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28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병합한 PR 83개 · 브랜치 feature/* → develop → main · CHANGELOG가 바뀌면 GitHub Release 자동 생성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28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릴리스 21개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결과물이 나오기까지 — 피드백을 받아 고친 과정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뒤 끝내지 않고, 사용자 시나리오 점검 · 수업 · 자동 검사에서 나온 피드백을 다음 버전에 바로 반영했다.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3566160"/>
                <a:gridCol w="10972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피드백을 얻은 곳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발견한 것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반영한 것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 시나리오 점검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소셜 계정으로 탈퇴한 뒤 다시 로그인하면 의도와 달리 바로 복구됨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사용자가 선택할 수 있게 복구 전에 한 번 묻도록 변경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v1.9.2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전문가 피드백 (리버스 프록시)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앱 포트 8390이 모든 주소에 열려 HTTPS를 건너뛰고 접속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127.0.0.1에만 바인딩 + HSTS, 외부망에서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v1.10.1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SonarQube 품질 게이트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이메일 정규식의 ReDoS 위험, 새 코드 커버리지 61%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소유 수량자로 수정 + 테스트 추가 후 병합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v1.10.2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수업 (테스트 전략)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테스트 피라미드, AI가 쓴 테스트를 믿지 말 것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E2E 7개, TESTING.md · CLAUDE.md 규칙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v1.10.3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배포 후 실제 흐름 점검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세션을 Redis로 옮긴 뒤 두 번째 요청부터 로그인이 풀림 (자동 테스트는 통과)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쿠키 형식 수정 + 재요청 테스트 추가로 로그인 유지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v1.7.0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 편의성 (UI 일관성)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비밀 댓글 표시만 이모지라 다른 아이콘과 톤이 달라 눈에 덜 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사이트 아이콘과 같은 선 모양 자물쇠로 통일해 한눈에 알아보게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v1.11.1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이어지는 슬라이드: ⑤ 주요 기능 화면 → ⑥ 기술적 고민 → ⑦ AI 활용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화면과 글쓰기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주요 기능 화면 · 로컬 데모 데이터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587627"/>
            <a:ext cx="5431536" cy="340842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private/tmp/claude-501/-Users-parksuyeon-Documents-blog-project/b171277a-1760-43e0-9b52-11e8cd717d78/scratchpad/report/shots/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5915"/>
            <a:ext cx="5394960" cy="33718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메인 화면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513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인기 글 · 추천 글 · 인기 다이어리를 보여 준다. 누구에게나 같은 공개 화면이라 Redis에 30초 캐시하고, 글을 쓰면 바로 비운다.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1587627"/>
            <a:ext cx="5431536" cy="340842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private/tmp/claude-501/-Users-parksuyeon-Documents-blog-project/b171277a-1760-43e0-9b52-11e8cd717d78/scratchpad/report/shots/06b-write-p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5915"/>
            <a:ext cx="5394960" cy="33718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글쓰기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5513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마크다운으로 쓰고 미리보기로 확인한다. 다이어리 · 분야 · 공개 범위를 고르고, 60초마다 자동 임시저장한다. 본문 속 HTML은 그리지 않아 XSS를 막는다.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 댓글 — 같은 글, 보는 사람에 따라 다르게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주요 기능 화면 · 로컬 데모 데이터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76946" y="1581912"/>
            <a:ext cx="5138347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private/tmp/claude-501/-Users-parksuyeon-Documents-blog-project/b171277a-1760-43e0-9b52-11e8cd717d78/scratchpad/report/shots/03-comments-gu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234" y="1600200"/>
            <a:ext cx="5101771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손님 · 다른 회원이 볼 때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513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내용과 작성자가 가려지고 “비밀 댓글입니다”만 보인다. 서버가 응답에서 내용을 아예 빼서 개발자 도구로도 보이지 않는다.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76652" y="1581912"/>
            <a:ext cx="4477496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private/tmp/claude-501/-Users-parksuyeon-Documents-blog-project/b171277a-1760-43e0-9b52-11e8cd717d78/scratchpad/report/shots/04-comments-ow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940" y="1600200"/>
            <a:ext cx="4440920" cy="33832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글쓴이(블로그 주인)가 볼 때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5513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쓴 사람 · 블로그 주인 · 원 댓글 작성자는 내용을 본다. 비밀 댓글에 단 답글은 체크하지 않아도 늘 비밀이다.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검색과 다이어리 꾸미기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주요 기능 화면 · 로컬 데모 데이터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587627"/>
            <a:ext cx="5431536" cy="340842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private/tmp/claude-501/-Users-parksuyeon-Documents-blog-project/b171277a-1760-43e0-9b52-11e8cd717d78/scratchpad/report/shots/05-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5915"/>
            <a:ext cx="5394960" cy="33718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통합 검색과 실시간 인기 검색어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513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단어를 넣으면 모두 들어간 글만 찾는다(한국어 부분 일치, pg_trgm). 오른쪽 인기 검색어는 5초마다 다시 계산한다.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1587627"/>
            <a:ext cx="5431536" cy="340842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private/tmp/claude-501/-Users-parksuyeon-Documents-blog-project/b171277a-1760-43e0-9b52-11e8cd717d78/scratchpad/report/shots/07-b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5915"/>
            <a:ext cx="5394960" cy="33718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블로그와 다이어리 표지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5513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 안에 다이어리를 여러 권 두고, 상점에서 산 스티커를 표지에 붙인다. 대표글은 3개까지 위에 고정한다.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스티커 상점과 블로그 관리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주요 기능 화면 · 로컬 데모 데이터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587627"/>
            <a:ext cx="5431536" cy="340842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private/tmp/claude-501/-Users-parksuyeon-Documents-blog-project/b171277a-1760-43e0-9b52-11e8cd717d78/scratchpad/report/shots/10-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5915"/>
            <a:ext cx="5394960" cy="33718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스티커 상점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513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출석 +10 · 공개 글 +20(하루 3번) · 남의 글 댓글 +2(하루 10번)로 잉크를 모아 팩을 산다. 동시 요청에도 한도를 넘지 않게 지갑 줄을 잠근 뒤 센다.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1587627"/>
            <a:ext cx="5431536" cy="340842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private/tmp/claude-501/-Users-parksuyeon-Documents-blog-project/b171277a-1760-43e0-9b52-11e8cd717d78/scratchpad/report/shots/08-man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5915"/>
            <a:ext cx="5394960" cy="33718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블로그 관리 대시보드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5513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· 어제 · 누적 조회수와 방문자, 30일 그래프, 7일 인기 글을 한 화면에서 본다. 같은 사람의 조회는 30분에 한 번만 센다.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CI/CD와 Git 브랜치 전략 — 검사를 통과한 코드만 배포된다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기술적 고민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feature/*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08483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기능마다 브랜치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2258568"/>
            <a:ext cx="25603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6352" y="16459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→ develop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08483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CI: 서버 테스트 · 화면 검사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SonarQube 게이트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28032" y="2258568"/>
            <a:ext cx="25603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4064" y="16459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93792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 → main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08483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릴리스 PR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E2E 7개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95744" y="2258568"/>
            <a:ext cx="25603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51776" y="16459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61504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deploy.yml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461504" y="208483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 → 도커 이미지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SSH → deploy.sh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63456" y="2258568"/>
            <a:ext cx="25603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19488" y="16459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29216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후 확인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729216" y="208483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주소 · HSTS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확인, Release 생성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108960"/>
            <a:ext cx="5760720" cy="706374"/>
          </a:xfrm>
          <a:prstGeom prst="roundRect">
            <a:avLst>
              <a:gd name="adj" fmla="val 1553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3438144"/>
            <a:ext cx="5431536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Actions로 테스트 → 이미지 빌드 → 배포를 자동화하고, 간소화한 Git Flow(feature → develop → main)를 적용했다.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25062"/>
            <a:ext cx="5760720" cy="706374"/>
          </a:xfrm>
          <a:prstGeom prst="roundRect">
            <a:avLst>
              <a:gd name="adj" fmla="val 1553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401650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254246"/>
            <a:ext cx="5431536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수정마다 배포하면 너무 잦았고, 손으로 배포하면 테스트를 건너뛸 수 있었다. 혼자여도 “검사 통과 없이는 못 합친다”를 규칙이 아니라 시스템으로 만들고 싶었다.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741164"/>
            <a:ext cx="5760720" cy="706374"/>
          </a:xfrm>
          <a:prstGeom prst="roundRect">
            <a:avLst>
              <a:gd name="adj" fmla="val 1553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" y="48326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5070348"/>
            <a:ext cx="5431536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브랜치 규칙으로 develop · main은 backend · frontend · SonarCloud 세 검사가 통과해야 병합된다(관리자도 예외 없음). 비밀번호는 GitHub Secrets에만 둔다.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557266"/>
            <a:ext cx="5760720" cy="706374"/>
          </a:xfrm>
          <a:prstGeom prst="roundRect">
            <a:avLst>
              <a:gd name="adj" fmla="val 15534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64870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배운 점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13232" y="5886450"/>
            <a:ext cx="5431536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배포 51번 · 릴리스 21개. 기능 단위 PR이라 무엇이 언제 바뀌었는지 추적이 쉬웠고, CHANGELOG가 곧 릴리스 노트가 됐다.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33388" y="3090672"/>
            <a:ext cx="5084064" cy="3191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8" name="Image 0" descr="/private/tmp/claude-501/-Users-parksuyeon-Documents-blog-project/b171277a-1760-43e0-9b52-11e8cd717d78/scratchpad/report/shots/24-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76" y="3108960"/>
            <a:ext cx="5047488" cy="3154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무중단 배포와 리버스 프록시 — 끊기지 않고, 뒷문 없이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기술적 고민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9384"/>
            <a:ext cx="543153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Redis 세션 + nginx 블루-그린 배포. 새 서버를 옆에 띄워 정상 응답을 확인한 뒤에만 nginx를 전환하고, 옛 서버는 하던 요청을 끝내고 종료한다.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83918"/>
            <a:ext cx="576072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77535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013102"/>
            <a:ext cx="543153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때마다 몇 초씩 끊기고, 세션이 서버 메모리에 있어 모든 회원이 로그아웃됐다. 새 버전이 안 뜨면 사이트가 내려간 채로 남았다.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67636"/>
            <a:ext cx="576072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590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096820"/>
            <a:ext cx="543153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deploy.sh가 쉬는 색에 새 이미지를 띄우고 /api/topics 응답을 3초 간격 최대 3분 확인 → nginx -t → reload. 전문가 피드백으로 8390 포트를 127.0.0.1에만 열고 HSTS를 붙였다.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51354"/>
            <a:ext cx="5760720" cy="1412286"/>
          </a:xfrm>
          <a:prstGeom prst="roundRect">
            <a:avLst>
              <a:gd name="adj" fmla="val 777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94279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배운 점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518053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0회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63773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중 끊김(0.2초 간격)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523744" y="518053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2523744" y="563773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전후 로그인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334256" y="518053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334256" y="563773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고장 난 버전 전환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5930346"/>
            <a:ext cx="5431536" cy="296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대가: 두 버전이 잠깐 같은 DB를 써서 컬럼 삭제는 두 번에 나눠 배포한다.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29400" y="1600200"/>
            <a:ext cx="4983480" cy="4663440"/>
          </a:xfrm>
          <a:prstGeom prst="roundRect">
            <a:avLst>
              <a:gd name="adj" fmla="val 2353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블루-그린 전환 순서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03720" y="2176272"/>
            <a:ext cx="365760" cy="365760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176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blue가 손님을 받는 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3720" y="2752344"/>
            <a:ext cx="365760" cy="365760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0372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27523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green에 새 버전 컨테이너 실행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03720" y="3328416"/>
            <a:ext cx="365760" cy="365760"/>
          </a:xfrm>
          <a:prstGeom prst="ellipse">
            <a:avLst/>
          </a:prstGeom>
          <a:solidFill>
            <a:srgbClr val="A8282F"/>
          </a:solidFill>
          <a:ln w="12700">
            <a:solidFill>
              <a:srgbClr val="A8282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3328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/api/topics가 200인지 확인 (최대 3분)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03720" y="3904488"/>
            <a:ext cx="365760" cy="365760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0372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406640" y="3904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nginx 설정을 green으로 바꾸고 nginx -t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03720" y="4480560"/>
            <a:ext cx="365760" cy="365760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037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406640" y="4480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reload → 손님은 green으로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03720" y="5056632"/>
            <a:ext cx="365760" cy="365760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03720" y="5056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7406640" y="5056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blue는 처리 중인 요청을 마치고 종료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903720" y="5760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롤링 대신 블루-그린: 무료 nginx엔 액티브 헬스 체크가 없어, 배포 스크립트가 직접 확인한 뒤에만 전환한다.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— 로그인은 세션, 권한은 언제나 서버가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기술적 고민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9384"/>
            <a:ext cx="543153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JWT 대신 서버 세션 + HttpOnly 쿠키. 공개 범위와 비밀 댓글처럼 “누가 무엇을 보나”는 서버의 SQL 조건과 서비스 코드가 정한다.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83918"/>
            <a:ext cx="576072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77535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013102"/>
            <a:ext cx="543153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“비밀번호를 바꾸면 다른 기기도 바로 로그아웃” 요구사항은 JWT로는 어렵다. 화면에서만 숨기면 API를 직접 불러 내용을 볼 수 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67636"/>
            <a:ext cx="576072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590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096820"/>
            <a:ext cx="543153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CSRF는 XSRF-TOKEN 쿠키 + 헤더로 막고, 로그인 5회 실패 시 10분 잠금. 글 조회는 PUBLIC_ONLY / VISIBLE_TO 두 SQL 조각으로만 거르고, 못 보면 403 대신 404. 비밀 댓글은 서버가 body · author를 빼고 hidden만 보낸다.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51354"/>
            <a:ext cx="5760720" cy="1412286"/>
          </a:xfrm>
          <a:prstGeom prst="roundRect">
            <a:avLst>
              <a:gd name="adj" fmla="val 777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94279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배운 점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518053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63773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기기 로그아웃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523744" y="518053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2523744" y="563773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없는 접근 응답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334256" y="518053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334256" y="563773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 댓글 내용 노출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5930346"/>
            <a:ext cx="5431536" cy="296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규칙이 한곳에 있어 화면마다 어긋나지 않았고, 새 규칙은 서비스와 통합 테스트만 고치면 됐다.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29400" y="1600200"/>
            <a:ext cx="4983480" cy="2240280"/>
          </a:xfrm>
          <a:prstGeom prst="roundRect">
            <a:avLst>
              <a:gd name="adj" fmla="val 4898"/>
            </a:avLst>
          </a:prstGeom>
          <a:solidFill>
            <a:srgbClr val="1E2027"/>
          </a:solidFill>
          <a:ln w="12700">
            <a:solidFill>
              <a:srgbClr val="1E20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2B8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CommentService.java — 비밀 댓글을 볼 수 있는 사람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1488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boolean canRead(CommentRow c, Long viewer)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(!c.secret()) return true;      // 공개 댓글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viewer != null &amp;&amp;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(viewer.equals(c.authorId())     // 쓴 사람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|| viewer == c.blogOwnerId()    // 블로그 주인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|| viewer.equals(c.parentAuthorId())); // 원 댓글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2547" y="4005072"/>
            <a:ext cx="2977185" cy="2276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0" descr="/private/tmp/claude-501/-Users-parksuyeon-Documents-blog-project/b171277a-1760-43e0-9b52-11e8cd717d78/scratchpad/report/shots/04-comments-ow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0835" y="4023360"/>
            <a:ext cx="2940609" cy="2240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개선 — 누구에게나 같은 화면은 30초 캐시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기술적 고민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12064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9384"/>
            <a:ext cx="479145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· 분야별 글 · 주제 화면 응답을 Redis에 JSON으로 30초 보관(ResponseCache). 키에 세대 번호를 붙여 글이 바뀌면 번호만 올려 한꺼번에 비운다.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83918"/>
            <a:ext cx="512064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77535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013102"/>
            <a:ext cx="479145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메인을 한 번 열 때 쿼리가 7개, 인기 글은 글마다 좋아요 · 댓글 · 북마크를 세어 정렬한다. 글이 많아질수록 느려진다.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67636"/>
            <a:ext cx="512064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590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096820"/>
            <a:ext cx="479145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무효화는 트랜잭션 커밋 뒤에. 캐시가 빈 순간 몰린 요청은 하나만 DB로 보낸다. 로그인한 사람마다 다른 화면(글 상세 · 마이페이지)은 캐시하지 않았다.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51354"/>
            <a:ext cx="5120640" cy="1412286"/>
          </a:xfrm>
          <a:prstGeom prst="roundRect">
            <a:avLst>
              <a:gd name="adj" fmla="val 777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94279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배운 점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5180538"/>
            <a:ext cx="1505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154배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637738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처리량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310384" y="5180538"/>
            <a:ext cx="1505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2310384" y="5637738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중앙값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907536" y="5180538"/>
            <a:ext cx="1505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30초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907536" y="5637738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반영 지연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5930346"/>
            <a:ext cx="4791456" cy="296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Redis가 멈추면 캐시 없이 DB에서 읽어 서비스는 계속된다.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943600" y="16002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5943600" y="5897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 20,769개 · 동시 10명 · 응답 중앙값: 메인 485 → 3ms, 인기순 249 → 2ms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· 코드 품질 — 믿는 것은 AI가 아니라 테스트와 품질 게이트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기술적 고민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12064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9384"/>
            <a:ext cx="479145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피라미드(단위 · 통합 · E2E) + SonarQube Cloud 품질 게이트(새 코드 버그 · 취약점 0, 커버리지 80%, 중복 3% 이하).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83918"/>
            <a:ext cx="512064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77535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013102"/>
            <a:ext cx="479145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쓴 코드가 많아 사람 리뷰만으로는 놓칠 수 있다. 서버 로직은 대부분 “권한 확인 + SQL”이라 실제 DB로 확인해야 의미가 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67636"/>
            <a:ext cx="512064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590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096820"/>
            <a:ext cx="479145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테스트는 실제 PostgreSQL · Redis로, 입력 규칙은 단위 테스트로. 경계값은 양쪽(64 / 65자)을 본다. 화면 커버리지 34%는 측정에서 빼지 않고 사용 흐름 테스트 241개로 채웠다.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51354"/>
            <a:ext cx="5120640" cy="1412286"/>
          </a:xfrm>
          <a:prstGeom prst="roundRect">
            <a:avLst>
              <a:gd name="adj" fmla="val 777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94279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배운 점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5180538"/>
            <a:ext cx="1505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89.7%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637738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커버리지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310384" y="5180538"/>
            <a:ext cx="1505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2310384" y="5637738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 · 보안 · 유지보수성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907536" y="5180538"/>
            <a:ext cx="1505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229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907536" y="5637738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정리한 이슈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5930346"/>
            <a:ext cx="4791456" cy="296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게이트가 내 정규식 실수와 커버리지 61%를 병합 전에 막았다.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63840" y="1645920"/>
            <a:ext cx="1828800" cy="502920"/>
          </a:xfrm>
          <a:prstGeom prst="rect">
            <a:avLst/>
          </a:prstGeom>
          <a:solidFill>
            <a:srgbClr val="A828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E2E  7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0" y="2212848"/>
            <a:ext cx="3291840" cy="502920"/>
          </a:xfrm>
          <a:prstGeom prst="rect">
            <a:avLst/>
          </a:prstGeom>
          <a:solidFill>
            <a:srgbClr val="C432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0" y="2212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 93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2779776"/>
            <a:ext cx="4754880" cy="502920"/>
          </a:xfrm>
          <a:prstGeom prst="rect">
            <a:avLst/>
          </a:prstGeom>
          <a:solidFill>
            <a:srgbClr val="E46A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27797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· 컴포넌트  34 + 297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71032" y="3456432"/>
            <a:ext cx="5614416" cy="2825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0" descr="/private/tmp/claude-501/-Users-parksuyeon-Documents-blog-project/b171277a-1760-43e0-9b52-11e8cd717d78/scratchpad/report/shots/20-son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3474720"/>
            <a:ext cx="5577840" cy="2788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· 문서화 — 코드보다 명세를 먼저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기술적 고민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9384"/>
            <a:ext cx="543153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Kit으로 요구사항 → 명세(spec) → 계획(plan) → 작업(tasks)을 만들고, 프로젝트 원칙(constitution) 6가지를 먼저 정했다.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83918"/>
            <a:ext cx="576072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77535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013102"/>
            <a:ext cx="543153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없이 AI에게 구현을 맡기면 그럴듯하지만 요구사항과 다른 코드가 나온다. 무엇이 정답인지 문서로 먼저 고정해야 결과를 검증할 수 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67636"/>
            <a:ext cx="5760720" cy="973990"/>
          </a:xfrm>
          <a:prstGeom prst="roundRect">
            <a:avLst>
              <a:gd name="adj" fmla="val 1126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590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096820"/>
            <a:ext cx="5431536" cy="5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명세의 Given-When-Then이 곧 테스트 목록이 되고, 테스트 이름에 요구사항 번호(CF_13_4_…)를 붙였다. README · 기능 / 원리 문서 · API · ERD는 docs 저장소에서 따로 관리했다.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51354"/>
            <a:ext cx="5760720" cy="1412286"/>
          </a:xfrm>
          <a:prstGeom prst="roundRect">
            <a:avLst>
              <a:gd name="adj" fmla="val 777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94279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배운 점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518053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63773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원칙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523744" y="518053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2523744" y="563773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요구사항(CF)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334256" y="518053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21개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334256" y="563773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릴리스 노트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5930346"/>
            <a:ext cx="5431536" cy="296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원칙이 AI 작업의 기준선이 됐고, 기능을 더할 때도 무엇이 바뀌는지 먼저 정리할 수 있었다.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19672" y="1581912"/>
            <a:ext cx="5111496" cy="379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0" descr="/private/tmp/claude-501/-Users-parksuyeon-Documents-blog-project/b171277a-1760-43e0-9b52-11e8cd717d78/scratchpad/report/shots/27-const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600200"/>
            <a:ext cx="5074920" cy="37558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트러블슈팅 ① — 배포 · 운영에서 만난 문제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기술적 고민 · 트러블슈팅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76479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 요청부터 로그인이 풀림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24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세션을 Redis로 옮긴 뒤, 로그인 다음 요청부터 401. 자동 테스트는 모두 통과한 상태였다.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66674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“7일 연장” 필터가 세션 ID를 base64 인코딩 없이 쿠키에 다시 담아, 서버가 세션을 찾지 못했다.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352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60857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쿠키 값 형식을 통일하고, 연장된 쿠키로 다시 요청하는 테스트를 추가했다.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5294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9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555040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재발 방지 테스트 확보. 배포 전 가입 → 로그인 → 글쓰기 흐름을 확인하는 절차를 만들었다.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60020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98848" y="176479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HTTPS를 건너뛰는 뒷문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2724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http://공인IP:8390 으로 들어오면 도메인과 HTTPS 없이 사이트가 열렸다.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498848" y="366674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블루-그린용 nginx 컨테이너를 -p 8390:8390 으로 띄워 모든 주소에서 요청을 받았다.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498848" y="4352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98848" y="460857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8390을 127.0.0.1에만 바인딩하고 HSTS를 붙였다. 주소가 바뀔 때만 컨테이너를 다시 띄운다.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5294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9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555040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도메인(HTTPS)으로만 접속 가능. 외부망에서 IP:8390 차단을 확인했다.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160020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47888" y="176479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맞는 비밀번호로 DB 접속 실패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47888" y="2724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.env의 비밀번호로 서버를 켜면 password authentication failed.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47888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47888" y="366674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이미지는 비밀번호를 볼륨을 처음 만들 때만 적용한다. 예전 볼륨이 남아 있었다.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4352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60857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지우는 down -v 대신 ALTER USER로 DB 안의 비밀번호만 맞췄다.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247888" y="5294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9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47888" y="555040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손실 없이 해결. 지우는 해결은 마지막 수단으로 둔다.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트러블슈팅 ② — 테스트 · 품질에서 만난 문제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기술적 고민 · 트러블슈팅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76479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커버리지가 화면에 안 보임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24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PR에는 커버리지가 나오는데 SonarCloud 첫 화면(develop)은 비어 있었다.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66674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 병합 뒤에는 CI가 돌지 않았고, 자동 분석이 CI 분석과 충돌했다.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352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60857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분석을 끄고(토큰 → 시크릿 → 끄기 순서), develop push에도 CI를 돌렸다.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5294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9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555040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커버리지가 보이자 화면 34%가 드러났고, 테스트 241개로 94%까지 채웠다.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60020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98848" y="176479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테스트가 가끔만 실패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2724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하나만 돌리면 통과, 전체를 돌리면 가끔 실패했다.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498848" y="366674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이동 · 응답 반영이 끝나기 전에 다음 확인을 하는 경쟁 상태였다.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498848" y="4352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98848" y="460857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 시간을 늘리지 않고 “무엇이 끝났는지”를 기다리는 조건으로 바꿨다.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5294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9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555040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연속 5회 실행 모두 통과. 원칙을 TESTING.md에 남겼다.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160020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47888" y="176479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입력에 느려지는 정규식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47888" y="2724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SonarCloud가 이메일 검사식을 ReDoS 위험으로 지적했다.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47888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47888" y="366674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 뒤 두 부분이 같은 글자(점)를 나눠 먹어, 틀린 긴 입력에서 되돌아가기가 폭증한다.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4352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60857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도메인을 점으로 나뉜 조각으로 바꾸고 소유 수량자(++)를 써서 되돌아가지 않게 했다.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247888" y="5294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9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47888" y="555040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10만 자 입력도 즉시 판정. 덤으로 a@b..c 같은 틀린 주소도 막는다.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AI 도구와 역할 분담 — AI는 페어 프로그래머, 결정은 내가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AI 활용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쓴 곳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Code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스펙 · 작업 목록 초안, 서버 · 화면 코드와 테스트, PR 작성, 배포 확인, 문서 · README 초안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(대화)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수업 내용 정리, 기술 선택지 비교 질문, 노션 공부 노트 정리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Spec Kit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요구사항 → spec → plan → tasks 명세 흐름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MCP 연결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Notion(공부 노트), Crowfoot(ERD 문서), GitHub CLI(PR · 릴리스)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663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Claude Code인가: 저장소 전체를 읽고, 테스트를 직접 돌려 결과로 확인하며, PR 단위로 작업을 나눠 주기 때문에 “검증 가능한 단위”로 일을 맡길 수 있었다.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무엇을 했나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29400" y="2057400"/>
            <a:ext cx="4983480" cy="1920240"/>
          </a:xfrm>
          <a:prstGeom prst="roundRect">
            <a:avLst>
              <a:gd name="adj" fmla="val 571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22585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2258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26974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· 기능 범위 · 우선순위 결정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선택 (대안 비교 후 최종 결정)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PR 검토 · 병합 · 배포 승인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사이트에서 기능 검증 · 문제 발견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29400" y="4160520"/>
            <a:ext cx="4983480" cy="1920240"/>
          </a:xfrm>
          <a:prstGeom prst="roundRect">
            <a:avLst>
              <a:gd name="adj" fmla="val 5714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436168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361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80060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스펙 · 작업 목록 초안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코드와 테스트 작성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· 릴리스 노트 초안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 실패 원인 분석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단계별로 어떻게 썼나 — 그리고 내가 고친 부분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AI 활용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309360" cy="1051560"/>
          </a:xfrm>
          <a:prstGeom prst="roundRect">
            <a:avLst>
              <a:gd name="adj" fmla="val 1043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· 명세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요구사항 문서를 넣고 Spec Kit으로 spec · plan · tasks 초안을 받았다.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709928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고친 것  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명세는 일반 블로그 기준이라, 내가 정리한 요구사항 문서를 기준으로 다시 쓰게 했다. 프로젝트 원칙 6가지를 정해 이후 작업의 기준으로 삼았다.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6309360" cy="1051560"/>
          </a:xfrm>
          <a:prstGeom prst="roundRect">
            <a:avLst>
              <a:gd name="adj" fmla="val 1043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작성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18211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단위로 “정상 · 경계 · 예외 테스트를 먼저 정하고 구현”하도록 맡겼다. 화면이 바뀌는 작업은 시안을 먼저 보고 승인했다.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80360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고친 것  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만들지(비밀 댓글 추가)는 내가 정하고, 사용자 편의성을 고려해 아이콘을 사이트 톤에 맞게 통일했다.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6309360" cy="1051560"/>
          </a:xfrm>
          <a:prstGeom prst="roundRect">
            <a:avLst>
              <a:gd name="adj" fmla="val 1043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50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· 테스트 · 디버깅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35254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 실패 · SonarQube 지적의 원인 분석과 수정안을 받았다.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050792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고친 것  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지적을 일괄로 고치지 않고 규칙마다 우리 코드에 맞는지 판단하게 했고, 오탐은 이유를 기록해 처리했다.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111496"/>
            <a:ext cx="6309360" cy="1051560"/>
          </a:xfrm>
          <a:prstGeom prst="roundRect">
            <a:avLst>
              <a:gd name="adj" fmla="val 1043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221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환경 설정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52297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CLAUDE.md에 꼭 지킬 규칙을, TESTING.md에 테스트 전략을 적어 AI가 매번 읽게 했다.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5221224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고친 것  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테스트를 고쳐서 통과시키지 않기, develop · main 직접 push 금지를 규칙으로 고정했다.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14032" y="1581912"/>
            <a:ext cx="4517136" cy="3503911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0" descr="/private/tmp/claude-501/-Users-parksuyeon-Documents-blog-project/b171277a-1760-43e0-9b52-11e8cd717d78/scratchpad/report/shots/25-claude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00200"/>
            <a:ext cx="4480560" cy="346733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132320" y="5486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— Claude Code가 작업을 시작할 때마다 읽는 규칙 파일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사례와 검증 — AI 결과를 그대로 쓰지 않았다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AI 활용</a:t>
            </a:r>
            <a:endParaRPr lang="en-US" sz="10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23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AI에 맡긴 방향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· 결과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2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테스트 커버리지 보강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대상에서 파일을 빼는 대신, 실제 사용 흐름(입력 · 클릭 · 서버 요청)을 확인하는 테스트를 쓰도록 지시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테스트 241개 추가, 커버리지 34% → 94% (전체 89.7%)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정적 분석 지적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일괄 수정 대신 규칙마다 우리 코드에 맞는지 판단하도록 지시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이슈 229개 정리, 맞지 않는 지적은 사유를 기록해 오탐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 취약점 수정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전문가 피드백을 바탕으로 앱 포트 노출 여부를 점검하고 수정하도록 요청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127.0.0.1 바인딩 + HSTS, 외부망에서 차단 확인 (v1.10.1)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UI 일관성 개선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 편의성 관점에서 비밀 댓글 표시를 사이트 아이콘과 통일하도록 요청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B3F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 모양 SVG 자물쇠로 교체, 테스트 · 품질 게이트 통과 후 배포 (v1.11.1)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놓친 것을 잡은 방법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5623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623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A828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후 흐름 점검  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테스트를 통과한 세션 버그를 실제 흐름에서 발견 → 재요청 테스트 추가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5623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34840" y="5623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A828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게이트  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수정한 정규식의 남은 위험과 부족한 테스트를 병합 전에 차단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5623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83880" y="5623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A828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우선 규칙  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테스트가 깨지면 기대값이 아니라 구현을 수정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대화 — 내가 정하고, AI가 구현하고, 내가 확인한다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AI 활용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7315200" cy="4818888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54480"/>
            <a:ext cx="7278624" cy="384048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8249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8249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68249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1554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· 비밀 댓글 작업 (2026.10.16) — 실제 작업 흐름을 요약해 정리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53312" y="2039112"/>
            <a:ext cx="6309360" cy="626364"/>
          </a:xfrm>
          <a:prstGeom prst="roundRect">
            <a:avLst>
              <a:gd name="adj" fmla="val 11679"/>
            </a:avLst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81328" y="2039112"/>
            <a:ext cx="6053328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 댓글 기능을 추가해 줘.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조건: 기존 댓글 API와 호환, 블루-그린 배포 중에도 안전한 DB 변경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완료 기준: 정상 · 경계 · 예외 테스트와 품질 게이트 통과 → 머지 · 배포 → ERD · README · 문서 반영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7752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" y="2939796"/>
            <a:ext cx="6675120" cy="946404"/>
          </a:xfrm>
          <a:prstGeom prst="roundRect">
            <a:avLst>
              <a:gd name="adj" fmla="val 7729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2939796"/>
            <a:ext cx="6419088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범위 규칙을 먼저 정했습니다.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열람: 작성자 · 블로그 주인 · (답글이면) 원 댓글 작성자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그 외에는 응답에서 body · author를 빼고 hidden=true만 전달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비밀 댓글의 답글은 강제로 비밀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DB는 comments.secret(V25) 컬럼 추가만이라 블루-그린 전환 중에도 호환됩니다.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995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9808" y="4160520"/>
            <a:ext cx="6675120" cy="626364"/>
          </a:xfrm>
          <a:prstGeom prst="roundRect">
            <a:avLst>
              <a:gd name="adj" fmla="val 11679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" y="4160520"/>
            <a:ext cx="6419088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10개(서버 5 · 화면 5)를 먼저 작성했습니다. 기존 테스트 2개가 실패해 기대값이 아니라 구현을 고쳤습니다(secret은 true일 때만 전송).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 · SonarCloud 통과 → PR #88 · #90 병합, v1.11.0 배포와 배포 후 점검까지 완료했습니다.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53312" y="4896612"/>
            <a:ext cx="6309360" cy="466344"/>
          </a:xfrm>
          <a:prstGeom prst="roundRect">
            <a:avLst>
              <a:gd name="adj" fmla="val 15686"/>
            </a:avLst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81328" y="4896612"/>
            <a:ext cx="60533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화면을 검토해 보니 비밀 댓글 표시만 이모지라 사이트 아이콘(선 아이콘)과 톤이 달라. 같은 스타일의 SVG로 통일하고 야간모드에서도 글자 색을 따르게 해 줘. 기존 테스트는 유지하고 v1.11.1로 배포.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4726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" y="5637276"/>
            <a:ext cx="6675120" cy="466344"/>
          </a:xfrm>
          <a:prstGeom prst="roundRect">
            <a:avLst>
              <a:gd name="adj" fmla="val 15686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7824" y="5637276"/>
            <a:ext cx="6419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LockIcon(SVG, currentColor) 컴포넌트로 교체했습니다. 화면 테스트 297개 · 품질 게이트 통과 후 v1.11.1로 배포했습니다.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1554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대화에서 보이는 것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20116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2130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 범위는 내가 정의했다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기능과 완료 기준(DB · ERD · 테스트 · 배포 · 문서)을 먼저 정하고 맡겼다.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92440" y="347472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593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설계 → 테스트 → 배포를 실행했다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931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규칙과 하위 호환 DB 변경을 제안하고, 테스트 우선 원칙대로 구현해 게이트를 통과한 것만 배포했다.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49377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5056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결과는 사용자 관점에서 검토했다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5394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화면을 검토해 UI 일관성 문제를 찾아 개선을 지시했고, 같은 절차로 v1.11.1을 배포했다.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보고서도 Claude와 함께 — 가이드 4단계대로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AI 활용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분석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2996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양식과 안내문을 먼저 분석하게 하고, 코드 · README · CHANGELOG · 커밋 기록에서 기술 스택 · 버전 · 구조를 뽑게 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고민 끌어내기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05409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하며 내린 판단(품질 지적 처리 방식, 포트 노출 보안 수정 등)을 무엇 / 왜 / 어떻게 / 결과로 정리했다.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694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트러블슈팅 정리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07822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README에 남긴 7건 중 5건을 문제 → 원인 → 해결 → 결과 표로 옮겼다.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7183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만들기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10235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양식의 목차 5개를 지키고 사이트 색 · 글꼴(Pretendard)로 디자인. 기능 화면은 로컬 데모 데이터로 직접 띄워 캡처했다.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23760" y="1645920"/>
            <a:ext cx="4389120" cy="2743200"/>
          </a:xfrm>
          <a:prstGeom prst="roundRect">
            <a:avLst>
              <a:gd name="adj" fmla="val 400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523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28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그대로 붙이지 않았다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228600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초안을 PPT · PDF로 직접 열어 확인한 뒤 브랜치에 올렸다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마음에 들지 않는 글꼴은 바꾸게 했다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완성도 점수와 느낀 점은 내 생각과 맞는지 다시 확인했다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수치(154배 · 0회 · 89.7%)는 README · 측정 기록 · SonarCloud 화면과 맞는지 확인했다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발표할 때 내 말로 설명할 수 있도록, 슬라이드마다 실제로 한 일과 맞는지 확인했다.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효과와 한계 — 다음에는 이렇게 쓰겠다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29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AI 활용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릴리스 (9일)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병합한 PR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431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테스트 (서버 127 · 화면 297 · E2E 7)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작업(테스트 · 문서 · 릴리스 노트)이 빨라져, 기획 · 검증 · 판단에 시간을 썼다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하나를 명세 → 테스트 → PR → 배포 → 문서까지 하루 안에 끝냈다(비밀 댓글)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게이트와 테스트가 있어 큰 정리(이슈 229개)도 안심하고 맡겼다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한계와 주의할 점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4290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그럴듯하게 틀린다: 테스트가 다루지 않은 경우(쿠키 재요청)는 그대로 통과했다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세션 두 개가 같은 작업을 해서 PR이 겹친 적이 있다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 · 토큰 · 저장소 설정처럼 사람이 직접 해야 하는 일은 남는다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프로젝트에서는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4290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전략 · 품질 게이트 · 보안 체크리스트를 첫날부터 켠다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작업을 나눌 때 세션마다 맡을 범위를 먼저 정한다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만든 결과는 실제 화면 · 실제 요청으로 한 번 더 확인한다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A828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정리 — AI는 속도를 맡고, 신뢰는 테스트 · 품질 게이트 · 직접 검증이 맡았다.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완성도 평가와 잘한 점 · 아쉬운 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91840" cy="4663440"/>
          </a:xfrm>
          <a:prstGeom prst="roundRect">
            <a:avLst>
              <a:gd name="adj" fmla="val 3333"/>
            </a:avLst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pPr indent="0" marL="0">
              <a:lnSpc>
                <a:spcPct val="12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10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기획한 기능을 모두 실제 사이트에 배포했고, 무중단 배포 · 품질 게이트 · 테스트까지 갖췄다.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푸시 알림 · 신고 처리가 아직 없어 −1점.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057400"/>
            <a:ext cx="3611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기능을 “만들었다”에서 멈추지 않고 실제 도메인에서 운영하며 문제를 찾아 고쳤다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“왜 이 기술인가”를 대안과 비교해 고르고 문서(README 의사결정 11개)로 남겼다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결과를 그대로 믿지 않고 테스트 · 품질 게이트 · 직접 검증으로 확인했다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 말할 수 있는 결과: 154배, 끊김 0회, 커버리지 89.7%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아쉬운 점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057400"/>
            <a:ext cx="3566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전략을 처음부터 세우지 않아, 화면 커버리지 34%를 뒤늦게 몰아서 채웠다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포트 노출을 배포 뒤 수업에서 배우고서야 알았다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한 대 · 앱 하나라 서버가 멈추면 사이트도 멈춘다(단일 장애점)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신고는 저장만 되고 처리 화면이 없다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29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 개선할 점과 느낀 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개선할 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13432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671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가용성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963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앱을 두 개 띄워 로드 밸런싱 (세션은 이미 Redis라 코드 변경 없음)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37560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912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5204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사진을 S3 호환 저장소로 (인터페이스는 이미 분리), 이미지는 레지스트리로 배포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361688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2153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기능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5445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신고 처리 화면, 새 글 · 댓글 알림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129784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85816"/>
            <a:ext cx="384048" cy="384048"/>
          </a:xfrm>
          <a:prstGeom prst="ellipse">
            <a:avLst/>
          </a:prstGeom>
          <a:solidFill>
            <a:srgbClr val="C4323A"/>
          </a:solidFill>
          <a:ln w="12700">
            <a:solidFill>
              <a:srgbClr val="C432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239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113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56869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 단위 요청 제한, Content-Security-Policy 헤더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32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느낀 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205740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2331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AI와 함께 개발하면 코드를 쓰는 속도는 크게 빨라지지만, “무엇이 맞는지”를 정하고 확인하는 일은 여전히 내 몫이었다.</a:t>
            </a:r>
            <a:endParaRPr lang="en-US" sz="1450" dirty="0"/>
          </a:p>
          <a:p>
            <a:pPr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B3F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요구사항 · 테스트 · 품질 게이트 · 실제 사이트 검증처럼 기준을 먼저 세우는 일이 오히려 더 중요해졌다. 9일 동안 21번 배포하며, 좋은 개발자는 많이 쓰는 사람이 아니라 기준을 세우고 검증하는 사람이라는 걸 배웠다.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A828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앞으로도 “왜 이렇게 했는지”를 설명할 수 있는 개발자, 만든 것을 끝까지 운영하고 고치는 개발자가 되고 싶다.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사이트  https://sagak.java21.net</a:t>
            </a:r>
            <a:endParaRPr lang="en-US" sz="14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 github.com/home-my-blog/myblog</a:t>
            </a:r>
            <a:endParaRPr lang="en-US" sz="14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 github.com/home-my-blog/docs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박수연 · AIGJ_01_010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gak">
  <a:themeElements>
    <a:clrScheme name="Sagak">
      <a:dk1>
        <a:srgbClr val="111318"/>
      </a:dk1>
      <a:lt1>
        <a:srgbClr val="FFFFFF"/>
      </a:lt1>
      <a:dk2>
        <a:srgbClr val="3B3F47"/>
      </a:dk2>
      <a:lt2>
        <a:srgbClr val="F6F7F9"/>
      </a:lt2>
      <a:accent1>
        <a:srgbClr val="C4323A"/>
      </a:accent1>
      <a:accent2>
        <a:srgbClr val="A8282F"/>
      </a:accent2>
      <a:accent3>
        <a:srgbClr val="6B7280"/>
      </a:accent3>
      <a:accent4>
        <a:srgbClr val="4F6BD8"/>
      </a:accent4>
      <a:accent5>
        <a:srgbClr val="2E9D6A"/>
      </a:accent5>
      <a:accent6>
        <a:srgbClr val="E0A030"/>
      </a:accent6>
      <a:hlink>
        <a:srgbClr val="C4323A"/>
      </a:hlink>
      <a:folHlink>
        <a:srgbClr val="A8282F"/>
      </a:folHlink>
    </a:clrScheme>
    <a:fontScheme name="Sagak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사각 — 개인 프로젝트 소개자료</dc:title>
  <dc:subject>PptxGenJS Presentation</dc:subject>
  <dc:creator>박수연</dc:creator>
  <cp:lastModifiedBy>박수연</cp:lastModifiedBy>
  <cp:revision>1</cp:revision>
  <dcterms:created xsi:type="dcterms:W3CDTF">2026-10-21T07:04:15Z</dcterms:created>
  <dcterms:modified xsi:type="dcterms:W3CDTF">2026-10-21T07:04:15Z</dcterms:modified>
</cp:coreProperties>
</file>